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E5B3A-9923-F5E9-C957-7566DF8F9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666859-8A7A-4602-A4F4-F8E13030C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DEDCBC-B400-8058-B96A-ADAFB3E9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16575F-F666-1D14-4EFE-9028F6000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D14C47-ED40-A38D-2454-FC830C41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25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BB345-4B49-3131-D1C2-604EAAC43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C9DE55-4F66-DEFB-A362-660450050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CCBDDB-33A8-960A-F9CA-F1A9209A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E6C05A-EE61-0D6E-B5C6-751B70EC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2938A4-0122-A7CB-AD33-A913B46D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995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DA2AC-7131-CFB7-22C6-A782857D3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33B610-6C68-8803-39A3-E66802C14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26EFBB-6D0A-7108-2A08-AC8E49D4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3EF13F-27A0-813D-6042-DBAD2303A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CF613-19B2-C0D3-B0DE-8C87B3C7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03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71914-A025-B99F-FCF2-B9F3754E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D0B9C6-B942-BDC0-4CEA-5F454DFFC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E7C20B-4F2C-4650-92B1-F15DF5F6F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3C23D5-666E-5A43-3476-DFC5F76A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72C023-4547-72FA-21BF-AC36514B5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7983E3-A78C-4952-15B1-F81D2801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86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F798D-9C73-2CDF-CE08-3288E4B1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782794-1E06-5F15-07DC-EBC6BE913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BC9CA4-569D-2991-B366-5F2BE6B39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CD0149-8BD5-497A-7FA0-959E83F5C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8B170F2-C719-6C27-54DE-73E077CF2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8561E5-769D-A731-53C9-F8725958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3788FE-6C3F-540F-7D7E-953D26E7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9E0F0DA-75FF-F292-2C7C-DB85D620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53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CB2DE4-9456-0BFC-A101-4BCB6D6D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4C0D10C-B4F5-B81B-FE53-9CA5372B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190874-6874-800E-9AE7-18D39F26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6011CA-1675-6D16-B3B3-BEA587BC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75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909936E-6A31-1C75-C854-A99F42B8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B61DB1-23F0-39DD-D97A-D6C5D995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3B1B41-BA3A-F7CD-CA42-939880F2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82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ABD4D-E03A-2B87-1BCA-3EEFFBF30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AD7EB-70C0-116D-BC1F-2D8926D8E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F40EA8-5ABF-09BD-3BCD-699B865B5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F2B543-344F-89B1-A612-B607F36E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AE6A94-4B0D-6A9F-A1FF-90999530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9895CF-4320-0EDB-DD0F-AEB5CB18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05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6D6D1-9650-D3EB-806A-FA9EA482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F5BAC36-10CC-4B6D-B078-4C6449A08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4F0CA3-04FA-E958-E416-C4FF5F8C9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94D2D1-7EB4-CAFE-85DC-885EF40DA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136D5C-62DA-C359-D786-898E132D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A0FF62-E7BA-047C-86D7-D22A4542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18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A4966E-C4C2-6A75-3D26-DF5772D54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1F95EF-31BA-6AC6-B5F9-063E58A56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4A9B0F-A1AA-FC6A-48FD-16EAD5CC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3C33B6-91DF-BBA6-D9EA-D09E9F36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B392A7-9D8B-256A-FE2D-B71E2CCD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40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03622F-04AB-6C7C-A599-D0D9BD29E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DFD8B4-A5D3-CA54-F72A-19496DAF5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270CEB-8694-9227-2137-71CD1FBF6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D134BA-385F-A104-4470-F9515C21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B26410-CE12-B2EE-EE51-D5721333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7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E93F3-DC1C-332E-812D-6ABDFF3D2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15C36C-30E6-7CDE-DF58-67B75A03C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616FB3-6B49-75A6-15B9-0A23A7514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8BDFB-B8EA-4B36-BB5E-9AA0B9C69E51}" type="datetimeFigureOut">
              <a:rPr lang="ru-RU" smtClean="0"/>
              <a:t>30.05.2023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46678E-A022-548D-4553-73993FE4A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BBAAEB-5EA0-5729-ADA9-674E8D090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7B6BC-B9E1-4BDA-8533-93F614A022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05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23BDEA-CF2B-D062-6974-6AF4F0A1A399}"/>
              </a:ext>
            </a:extLst>
          </p:cNvPr>
          <p:cNvSpPr txBox="1"/>
          <p:nvPr/>
        </p:nvSpPr>
        <p:spPr>
          <a:xfrm>
            <a:off x="2689934" y="426127"/>
            <a:ext cx="62587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dirty="0"/>
              <a:t>Курсовая работа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12756-B06D-CBC6-8744-42A6A660F56E}"/>
              </a:ext>
            </a:extLst>
          </p:cNvPr>
          <p:cNvSpPr txBox="1"/>
          <p:nvPr/>
        </p:nvSpPr>
        <p:spPr>
          <a:xfrm>
            <a:off x="2618912" y="2228671"/>
            <a:ext cx="6693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средств и алгоритмов машинного перевода</a:t>
            </a:r>
            <a:endParaRPr lang="ru-RU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137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96818-7A12-F6B9-9607-081DCD72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571"/>
            <a:ext cx="10515600" cy="717951"/>
          </a:xfrm>
        </p:spPr>
        <p:txBody>
          <a:bodyPr/>
          <a:lstStyle/>
          <a:p>
            <a:pPr algn="ctr"/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F205B3-2B43-D8F6-D874-987F0193F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74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Термин "машинный перевод" относится к компьютеризированным системам, отвечающим за перевод текстов с помощью человека или без него. Он не включает компьютерные средства перевода, которые поддерживают переводчиков путем предоставления доступа к онлайн словарям</a:t>
            </a:r>
          </a:p>
          <a:p>
            <a:pPr marL="0" indent="0" algn="just">
              <a:buNone/>
            </a:pPr>
            <a:endParaRPr lang="ru-RU" sz="2400" kern="0" dirty="0">
              <a:solidFill>
                <a:srgbClr val="202122"/>
              </a:solidFill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Труд переводчиков является трудным и высококвалифицированным. Такого специалиста трудно обучить и это занимает много времени. Появление компьютеров дало надежду на то, что такой труд удастся автоматизировать. Это делает тему работы актуальной.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9734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DD4BC94-7B26-13BF-7B8E-729D18E41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92" y="236522"/>
            <a:ext cx="10515600" cy="59512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Объектом рассмотрения работы является процесс машинного перевода, а предметом машинный перевод.</a:t>
            </a:r>
            <a:endParaRPr lang="ru-RU" sz="2400" dirty="0"/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Методом исследования является монографический анализ.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работы: изучить средства и методы машинного перевода.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 работы: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Изучить средства и алгоритмы машинного перевода, основанный на правилах;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Изучить средства и алгоритмы машинного перевода, основанного на примерах;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 Изучить средства и алгоритмы статистического машинного перевода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36302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0F17F8-B12B-D012-525D-6CEC7923B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ru-RU" sz="32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Машинный перевод, основанный на правилах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8F1EC5-FE52-8CAB-7C56-CA7336E83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878"/>
            <a:ext cx="10515600" cy="512559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32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Прямой перевод</a:t>
            </a:r>
          </a:p>
          <a:p>
            <a:pPr marL="0" indent="0" algn="just">
              <a:buNone/>
            </a:pPr>
            <a:r>
              <a:rPr lang="en-GB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Первый метод машинного перевода, основанного на правил</a:t>
            </a:r>
            <a:r>
              <a:rPr lang="en-US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х это “прямой перевод”. Суть метода заключается в разработке правил для перевода с одного конкретного языка на другой. Язык, с которого производиться перевод называется исходным языком, а язык конечного текста целевым языком. В данном подходе исходный язык не анализируется более чем это необходимо для разрешения двусмысленностей при переводе и уточнения порядка слов языка перевода. </a:t>
            </a:r>
          </a:p>
          <a:p>
            <a:pPr marL="0" indent="0" algn="ctr">
              <a:buNone/>
            </a:pPr>
            <a:r>
              <a:rPr lang="ru-RU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Перевод с помощью промежуточного языка</a:t>
            </a:r>
            <a:endParaRPr lang="ru-RU" kern="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Смысл подхода заключается в том, что исходный текст сначала переводится на промежуточный язык. А в свою очередь с промежуточного языка перевод осуществляется на целевой язык. В данном случае процедуры анализа исходного языка специфичны для исходного языка и независимы от целевого язык</a:t>
            </a:r>
            <a:r>
              <a:rPr lang="en-GB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a.</a:t>
            </a:r>
            <a:endParaRPr lang="ru-RU" sz="2400" kern="0" dirty="0">
              <a:solidFill>
                <a:srgbClr val="20212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78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E67736E-2A13-723D-740E-80F2A2BEE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14" y="1932467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Данный метод применяет абстрактные представления специфичный и для исходного, и для целевого языков. Сначала исходный текст преобразуется в абстрактное ориентированное на исходный язык представление, после этого это представление преобразуется в представление, ориентированное на целевой язык, а потом на основе этого представления создается текст на целевом языке.</a:t>
            </a:r>
            <a:endParaRPr lang="en-GB" sz="2400" kern="0" dirty="0">
              <a:solidFill>
                <a:srgbClr val="20212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GB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 таком подходе проблемы лексических различий между языками решаются на втором этапе.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BB204-67F9-41BB-336A-A476EA2F405D}"/>
              </a:ext>
            </a:extLst>
          </p:cNvPr>
          <p:cNvSpPr txBox="1"/>
          <p:nvPr/>
        </p:nvSpPr>
        <p:spPr>
          <a:xfrm>
            <a:off x="3099786" y="239696"/>
            <a:ext cx="59924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Машинный перевод на основе трансформации</a:t>
            </a:r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DCD17-7FBE-CE4F-7A24-25E6F4F29B6D}"/>
              </a:ext>
            </a:extLst>
          </p:cNvPr>
          <p:cNvSpPr txBox="1"/>
          <p:nvPr/>
        </p:nvSpPr>
        <p:spPr>
          <a:xfrm>
            <a:off x="710214" y="1393858"/>
            <a:ext cx="10955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Этот подход производит перевод текста в три этапа.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9846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22AA0C-8C48-5FB4-F254-E55893694ED3}"/>
              </a:ext>
            </a:extLst>
          </p:cNvPr>
          <p:cNvSpPr txBox="1"/>
          <p:nvPr/>
        </p:nvSpPr>
        <p:spPr>
          <a:xfrm>
            <a:off x="2077375" y="88777"/>
            <a:ext cx="7679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ru-RU" sz="3200" ker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Машинный перевод на основе примеров</a:t>
            </a:r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9A4F3-1B5C-D80E-204D-FFCFF67C3959}"/>
              </a:ext>
            </a:extLst>
          </p:cNvPr>
          <p:cNvSpPr txBox="1"/>
          <p:nvPr/>
        </p:nvSpPr>
        <p:spPr>
          <a:xfrm>
            <a:off x="985420" y="1109709"/>
            <a:ext cx="1003176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Следующий этап в развитии средств машинного перевода — это перевод на основе примеров. При данном методе перевод основывается двуязычные параллельные корпуса, а также на идее того, что люди не переводят тексты путем лингвистического анализа, а разбивают предложение на мелкие части, находят их аналоги в целевом языке, после чего собирают переведенные части в итоговое предложение. </a:t>
            </a:r>
            <a:endParaRPr lang="en-GB" sz="2400" kern="0" dirty="0">
              <a:solidFill>
                <a:srgbClr val="20212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GB" sz="2400" kern="0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Процесс перевода с использованием этого метода можно представить в виде нескольких основных этапов: предложение разбивается на фразы, которые находятся в корпусе, фразам сопоставляются соответствующие фразы из языка перевода, переведенные на конечный язык фразы комбинируются в итоговое предложение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8066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74BFD-DAB2-6D35-A490-B6C67E17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Статистический машинный перевод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4F0C11-8C00-70A2-2481-06C93D919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Статистический машинный перевод — это метод, который </a:t>
            </a:r>
            <a:r>
              <a:rPr lang="ru-RU" sz="2400" kern="0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использует  методы </a:t>
            </a:r>
            <a:r>
              <a:rPr lang="ru-RU" sz="2400" kern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машинного обучения для решения проблемы перевода текстов.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5604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C8AB6F6-8657-F4C4-D7F5-213D0ABED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668" y="50285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rgbClr val="2021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ценить превосходство одного над другим трудно, так как несколько разных методик часто применяются в одной системе машинного перевода</a:t>
            </a:r>
            <a:r>
              <a:rPr lang="ru-RU" sz="240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240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 </a:t>
            </a:r>
            <a:r>
              <a:rPr lang="ru-RU" sz="24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 менее перевод, основанный на правилах, был во многом вытеснен статистическим машинном переводе, в котором в свою очередь в наше время в самых продвинутых системах обширно применяются нейронные сети. Также следует отметить, как со временем изменился подход, которым система машинного перевода получает знания о переводе с одного языка на другой. На заре развития отрасли знания о языке закладывались в систему перевода лингвистами напрямую, но позже начал преобладать и доказал свою эффективность подход, при котором знания извлекаются напрямую из двуязычного корпуса.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0817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600</Words>
  <Application>Microsoft Office PowerPoint</Application>
  <PresentationFormat>Широкоэкранный</PresentationFormat>
  <Paragraphs>29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Введение</vt:lpstr>
      <vt:lpstr>Презентация PowerPoint</vt:lpstr>
      <vt:lpstr>Машинный перевод, основанный на правилах</vt:lpstr>
      <vt:lpstr>Презентация PowerPoint</vt:lpstr>
      <vt:lpstr>Презентация PowerPoint</vt:lpstr>
      <vt:lpstr>Статистический машинный перевод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 Першуков</dc:creator>
  <cp:lastModifiedBy>Дмитрий Першуков</cp:lastModifiedBy>
  <cp:revision>1</cp:revision>
  <dcterms:created xsi:type="dcterms:W3CDTF">2023-05-29T23:26:51Z</dcterms:created>
  <dcterms:modified xsi:type="dcterms:W3CDTF">2023-05-29T23:55:10Z</dcterms:modified>
</cp:coreProperties>
</file>